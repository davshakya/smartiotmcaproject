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7" r:id="rId1"/>
  </p:sldMasterIdLst>
  <p:sldIdLst>
    <p:sldId id="272" r:id="rId2"/>
    <p:sldId id="271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141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265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304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783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73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29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866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913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249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73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5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80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309C3-9ADF-64F9-F24E-A3A342257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00" y="600000"/>
            <a:ext cx="7800000" cy="720000"/>
          </a:xfrm>
        </p:spPr>
        <p:txBody>
          <a:bodyPr anchor="ctr"/>
          <a:lstStyle/>
          <a:p>
            <a:pPr algn="ctr"/>
            <a:r>
              <a:rPr lang="en-US" sz="3000" b="1" dirty="0">
                <a:latin typeface="Times New Roman"/>
              </a:rPr>
              <a:t>Smart Meter Anomaly Detection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91A4A-09F3-9992-02B1-CE95A3FDF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285" y="1925392"/>
            <a:ext cx="7350000" cy="1400000"/>
          </a:xfrm>
        </p:spPr>
        <p:txBody>
          <a:bodyPr anchor="ctr">
            <a:normAutofit fontScale="92500" lnSpcReduction="10000"/>
          </a:bodyPr>
          <a:lstStyle/>
          <a:p>
            <a:pPr algn="ctr"/>
            <a:r>
              <a:rPr lang="en-US" sz="1450" dirty="0">
                <a:latin typeface="Times New Roman"/>
              </a:rPr>
              <a:t>MCA Project</a:t>
            </a:r>
          </a:p>
          <a:p>
            <a:pPr algn="ctr"/>
            <a:r>
              <a:rPr lang="en-US" sz="1450" dirty="0">
                <a:latin typeface="Times New Roman"/>
              </a:rPr>
              <a:t>Submitted by: Devendra Singh Shakya</a:t>
            </a:r>
          </a:p>
          <a:p>
            <a:pPr algn="ctr"/>
            <a:r>
              <a:rPr lang="en-US" sz="1450" dirty="0">
                <a:latin typeface="Times New Roman"/>
              </a:rPr>
              <a:t>Enrollment No: CUOL909961</a:t>
            </a:r>
          </a:p>
          <a:p>
            <a:pPr algn="ctr"/>
            <a:r>
              <a:rPr lang="en-US" sz="1450" dirty="0">
                <a:latin typeface="Times New Roman"/>
              </a:rPr>
              <a:t>Guide: Vasanthi Chandran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06F48D-CE82-3C96-76CA-B180458DA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467" y="70962"/>
            <a:ext cx="2424825" cy="462438"/>
          </a:xfrm>
          <a:prstGeom prst="rect">
            <a:avLst/>
          </a:prstGeom>
        </p:spPr>
      </p:pic>
      <p:pic>
        <p:nvPicPr>
          <p:cNvPr id="7" name="Real Dashboard Snapsh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69" y="3528811"/>
            <a:ext cx="8600849" cy="164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799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000" y="600000"/>
            <a:ext cx="7800000" cy="720000"/>
          </a:xfrm>
        </p:spPr>
        <p:txBody>
          <a:bodyPr anchor="t">
            <a:normAutofit/>
          </a:bodyPr>
          <a:lstStyle/>
          <a:p>
            <a:r>
              <a:rPr lang="en-US" sz="3000" b="1" dirty="0">
                <a:latin typeface="Times New Roman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38642" y="2057201"/>
            <a:ext cx="4746248" cy="4550000"/>
          </a:xfrm>
        </p:spPr>
        <p:txBody>
          <a:bodyPr anchor="t">
            <a:normAutofit/>
          </a:bodyPr>
          <a:lstStyle/>
          <a:p>
            <a:pPr lvl="1"/>
            <a:r>
              <a:rPr lang="en-US" sz="1320" dirty="0">
                <a:latin typeface="Times New Roman"/>
              </a:rPr>
              <a:t>Smart meters produce continuous readings.</a:t>
            </a:r>
          </a:p>
          <a:p>
            <a:pPr lvl="1"/>
            <a:r>
              <a:rPr lang="en-US" sz="1320" dirty="0">
                <a:latin typeface="Times New Roman"/>
              </a:rPr>
              <a:t>Manual monitoring is difficult for large data.</a:t>
            </a:r>
          </a:p>
          <a:p>
            <a:pPr lvl="1"/>
            <a:r>
              <a:rPr lang="en-US" sz="1320" dirty="0">
                <a:latin typeface="Times New Roman"/>
              </a:rPr>
              <a:t>Abnormal readings may indicate theft-like or fault-like behavior.</a:t>
            </a:r>
          </a:p>
          <a:p>
            <a:pPr lvl="1"/>
            <a:r>
              <a:rPr lang="en-US" sz="1320" dirty="0">
                <a:latin typeface="Times New Roman"/>
              </a:rPr>
              <a:t>This project detects anomalies and visualizes them in real time.</a:t>
            </a:r>
          </a:p>
          <a:p>
            <a:pPr lvl="1"/>
            <a:r>
              <a:rPr lang="en-US" sz="1320" dirty="0">
                <a:latin typeface="Times New Roman"/>
              </a:rPr>
              <a:t>Live dashboard shows readings, events and confidence.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524D5D-678E-8AE1-5219-B3A8C36CD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733" y="70962"/>
            <a:ext cx="2365560" cy="462438"/>
          </a:xfrm>
          <a:prstGeom prst="rect">
            <a:avLst/>
          </a:prstGeom>
        </p:spPr>
      </p:pic>
      <p:pic>
        <p:nvPicPr>
          <p:cNvPr id="6" name="Real Dashboard Snapsh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979999"/>
            <a:ext cx="4509047" cy="3757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41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000" y="600000"/>
            <a:ext cx="7800000" cy="720000"/>
          </a:xfrm>
        </p:spPr>
        <p:txBody>
          <a:bodyPr anchor="t">
            <a:normAutofit/>
          </a:bodyPr>
          <a:lstStyle/>
          <a:p>
            <a:r>
              <a:rPr lang="en-US" sz="3000" b="1" dirty="0">
                <a:latin typeface="Times New Roman"/>
              </a:rP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70841" y="2050761"/>
            <a:ext cx="4553065" cy="4550000"/>
          </a:xfrm>
        </p:spPr>
        <p:txBody>
          <a:bodyPr anchor="t"/>
          <a:lstStyle/>
          <a:p>
            <a:pPr lvl="1"/>
            <a:r>
              <a:rPr lang="en-US" sz="1320" dirty="0">
                <a:latin typeface="Times New Roman"/>
              </a:rPr>
              <a:t>Traditional systems depend on manual checks or fixed thresholds.</a:t>
            </a:r>
          </a:p>
          <a:p>
            <a:pPr lvl="1"/>
            <a:r>
              <a:rPr lang="en-US" sz="1320" dirty="0">
                <a:latin typeface="Times New Roman"/>
              </a:rPr>
              <a:t>Real-time abnormal behavior may be missed.</a:t>
            </a:r>
          </a:p>
          <a:p>
            <a:pPr lvl="1"/>
            <a:r>
              <a:rPr lang="en-US" sz="1320" dirty="0">
                <a:latin typeface="Times New Roman"/>
              </a:rPr>
              <a:t>Collect and preprocess voltage, current and power readings.</a:t>
            </a:r>
          </a:p>
          <a:p>
            <a:pPr lvl="1"/>
            <a:r>
              <a:rPr lang="en-US" sz="1320" dirty="0">
                <a:latin typeface="Times New Roman"/>
              </a:rPr>
              <a:t>Detect anomalies using Isolation Forest and LSTM.</a:t>
            </a:r>
          </a:p>
          <a:p>
            <a:pPr lvl="1"/>
            <a:r>
              <a:rPr lang="en-US" sz="1320" dirty="0">
                <a:latin typeface="Times New Roman"/>
              </a:rPr>
              <a:t>Evaluate detection using simulated spikes.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BF05E6-4A87-0216-D570-AC8AA16E8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  <p:pic>
        <p:nvPicPr>
          <p:cNvPr id="6" name="Real Dashboard Snapsh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530" y="2865550"/>
            <a:ext cx="4807470" cy="8533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000" y="584924"/>
            <a:ext cx="7800000" cy="720000"/>
          </a:xfrm>
        </p:spPr>
        <p:txBody>
          <a:bodyPr anchor="t"/>
          <a:lstStyle/>
          <a:p>
            <a:r>
              <a:rPr lang="en-US" sz="3000" b="1" dirty="0">
                <a:latin typeface="Times New Roman"/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32204" y="2153792"/>
            <a:ext cx="3703059" cy="4550000"/>
          </a:xfrm>
        </p:spPr>
        <p:txBody>
          <a:bodyPr anchor="t"/>
          <a:lstStyle/>
          <a:p>
            <a:pPr lvl="1"/>
            <a:r>
              <a:rPr lang="en-US" sz="1320" dirty="0">
                <a:latin typeface="Times New Roman"/>
              </a:rPr>
              <a:t>Historical data is used for model training.</a:t>
            </a:r>
          </a:p>
          <a:p>
            <a:pPr lvl="1"/>
            <a:r>
              <a:rPr lang="en-US" sz="1320" dirty="0">
                <a:latin typeface="Times New Roman"/>
              </a:rPr>
              <a:t>Live readings are generated by a simulator.</a:t>
            </a:r>
          </a:p>
          <a:p>
            <a:pPr lvl="1"/>
            <a:r>
              <a:rPr lang="en-US" sz="1320" dirty="0">
                <a:latin typeface="Times New Roman"/>
              </a:rPr>
              <a:t>FastAPI backend performs anomaly detection.</a:t>
            </a:r>
          </a:p>
          <a:p>
            <a:pPr lvl="1"/>
            <a:r>
              <a:rPr lang="en-US" sz="1320" dirty="0">
                <a:latin typeface="Times New Roman"/>
              </a:rPr>
              <a:t>Flask and Chart.js dashboard shows live results.</a:t>
            </a:r>
          </a:p>
          <a:p>
            <a:pPr lvl="1"/>
            <a:r>
              <a:rPr lang="en-US" sz="1320" dirty="0">
                <a:latin typeface="Times New Roman"/>
              </a:rPr>
              <a:t>System classifies NORMAL, THEFT, FAULT or ANOMALY.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6572BB-22F1-5D8D-897C-A2B8A260C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467" y="70962"/>
            <a:ext cx="2424825" cy="462438"/>
          </a:xfrm>
          <a:prstGeom prst="rect">
            <a:avLst/>
          </a:prstGeom>
        </p:spPr>
      </p:pic>
      <p:pic>
        <p:nvPicPr>
          <p:cNvPr id="8" name="Real Dashboard Snapsh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851" y="2231137"/>
            <a:ext cx="5203225" cy="27143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000" y="600000"/>
            <a:ext cx="7800000" cy="720000"/>
          </a:xfrm>
        </p:spPr>
        <p:txBody>
          <a:bodyPr anchor="t"/>
          <a:lstStyle/>
          <a:p>
            <a:r>
              <a:rPr lang="en-US" sz="3000" b="1" dirty="0">
                <a:latin typeface="Times New Roman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406069" y="2121594"/>
            <a:ext cx="4553065" cy="4550000"/>
          </a:xfrm>
        </p:spPr>
        <p:txBody>
          <a:bodyPr anchor="t"/>
          <a:lstStyle/>
          <a:p>
            <a:pPr lvl="1"/>
            <a:r>
              <a:rPr lang="en-US" sz="1320" dirty="0">
                <a:latin typeface="Times New Roman"/>
              </a:rPr>
              <a:t>sample_data.csv -&gt; train_model.py</a:t>
            </a:r>
          </a:p>
          <a:p>
            <a:pPr lvl="1"/>
            <a:r>
              <a:rPr lang="en-US" sz="1320" dirty="0">
                <a:latin typeface="Times New Roman"/>
              </a:rPr>
              <a:t>train_model.py -&gt; artifacts/</a:t>
            </a:r>
          </a:p>
          <a:p>
            <a:pPr lvl="1"/>
            <a:r>
              <a:rPr lang="en-US" sz="1320" dirty="0">
                <a:latin typeface="Times New Roman"/>
              </a:rPr>
              <a:t>meter_simulator.py -&gt; backend.py</a:t>
            </a:r>
          </a:p>
          <a:p>
            <a:pPr lvl="1"/>
            <a:r>
              <a:rPr lang="en-US" sz="1320" dirty="0">
                <a:latin typeface="Times New Roman"/>
              </a:rPr>
              <a:t>backend.py -&gt; flask_app.py -&gt; dashboard</a:t>
            </a:r>
          </a:p>
          <a:p>
            <a:pPr lvl="1"/>
            <a:r>
              <a:rPr lang="en-US" sz="1320" dirty="0">
                <a:latin typeface="Times New Roman"/>
              </a:rPr>
              <a:t>Dashboard displays live decisions and event status.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6B2B0E-E40D-07F6-2D28-3E8A4056C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  <p:pic>
        <p:nvPicPr>
          <p:cNvPr id="9" name="Real Dashboard Snapsho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972" y="1980000"/>
            <a:ext cx="4841321" cy="40344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000" y="600000"/>
            <a:ext cx="7800000" cy="720000"/>
          </a:xfrm>
        </p:spPr>
        <p:txBody>
          <a:bodyPr anchor="t"/>
          <a:lstStyle/>
          <a:p>
            <a:r>
              <a:rPr lang="en-US" sz="3000" b="1" dirty="0">
                <a:latin typeface="Times New Roman"/>
              </a:rPr>
              <a:t>Dataset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74249" y="2147352"/>
            <a:ext cx="4340563" cy="4550000"/>
          </a:xfrm>
        </p:spPr>
        <p:txBody>
          <a:bodyPr anchor="t"/>
          <a:lstStyle/>
          <a:p>
            <a:pPr lvl="1"/>
            <a:r>
              <a:rPr lang="en-US" sz="1320" dirty="0">
                <a:latin typeface="Times New Roman"/>
              </a:rPr>
              <a:t>Dataset file: sample_data.csv</a:t>
            </a:r>
          </a:p>
          <a:p>
            <a:pPr lvl="1"/>
            <a:r>
              <a:rPr lang="en-US" sz="1320" dirty="0">
                <a:latin typeface="Times New Roman"/>
              </a:rPr>
              <a:t>Features used: voltage, current and power.</a:t>
            </a:r>
          </a:p>
          <a:p>
            <a:pPr lvl="1"/>
            <a:r>
              <a:rPr lang="en-US" sz="1320" dirty="0">
                <a:latin typeface="Times New Roman"/>
              </a:rPr>
              <a:t>Feature selection and normal baseline preparation.</a:t>
            </a:r>
          </a:p>
          <a:p>
            <a:pPr lvl="1"/>
            <a:r>
              <a:rPr lang="en-US" sz="1320" dirty="0">
                <a:latin typeface="Times New Roman"/>
              </a:rPr>
              <a:t>Standard scaling for Isolation Forest.</a:t>
            </a:r>
          </a:p>
          <a:p>
            <a:pPr lvl="1"/>
            <a:r>
              <a:rPr lang="en-US" sz="1320" dirty="0">
                <a:latin typeface="Times New Roman"/>
              </a:rPr>
              <a:t>Sequence window creation and threshold learning for LSTM.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3A6A8D-C47C-2FDE-1092-13FD93E1F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  <p:pic>
        <p:nvPicPr>
          <p:cNvPr id="7" name="Real Dashboard Snapshot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040" y="2537138"/>
            <a:ext cx="4668693" cy="8286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000" y="600000"/>
            <a:ext cx="7800000" cy="720000"/>
          </a:xfrm>
        </p:spPr>
        <p:txBody>
          <a:bodyPr anchor="t"/>
          <a:lstStyle/>
          <a:p>
            <a:r>
              <a:rPr lang="en-US" sz="3000" b="1" dirty="0">
                <a:latin typeface="Times New Roman"/>
              </a:rPr>
              <a:t>Algorithms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57961" y="2134473"/>
            <a:ext cx="3999274" cy="4550000"/>
          </a:xfrm>
        </p:spPr>
        <p:txBody>
          <a:bodyPr anchor="t"/>
          <a:lstStyle/>
          <a:p>
            <a:pPr lvl="1"/>
            <a:r>
              <a:rPr lang="en-US" sz="1320" dirty="0">
                <a:latin typeface="Times New Roman"/>
              </a:rPr>
              <a:t>Isolation Forest detects point anomalies.</a:t>
            </a:r>
          </a:p>
          <a:p>
            <a:pPr lvl="1"/>
            <a:r>
              <a:rPr lang="en-US" sz="1320" dirty="0">
                <a:latin typeface="Times New Roman"/>
              </a:rPr>
              <a:t>It is useful for sudden abnormal readings.</a:t>
            </a:r>
          </a:p>
          <a:p>
            <a:pPr lvl="1"/>
            <a:r>
              <a:rPr lang="en-US" sz="1320" dirty="0">
                <a:latin typeface="Times New Roman"/>
              </a:rPr>
              <a:t>LSTM detects sequence anomalies.</a:t>
            </a:r>
          </a:p>
          <a:p>
            <a:pPr lvl="1"/>
            <a:r>
              <a:rPr lang="en-US" sz="1320" dirty="0">
                <a:latin typeface="Times New Roman"/>
              </a:rPr>
              <a:t>It uses recent power history per meter.</a:t>
            </a:r>
          </a:p>
          <a:p>
            <a:pPr lvl="1"/>
            <a:r>
              <a:rPr lang="en-US" sz="1320" dirty="0">
                <a:latin typeface="Times New Roman"/>
              </a:rPr>
              <a:t>Combined output improves event detection.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900C14-7F29-7C00-5E26-7C0371B24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  <p:pic>
        <p:nvPicPr>
          <p:cNvPr id="7" name="Real Dashboard Snapshot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461" y="1979999"/>
            <a:ext cx="5390832" cy="28122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000" y="600000"/>
            <a:ext cx="7800000" cy="720000"/>
          </a:xfrm>
        </p:spPr>
        <p:txBody>
          <a:bodyPr anchor="t">
            <a:normAutofit/>
          </a:bodyPr>
          <a:lstStyle/>
          <a:p>
            <a:r>
              <a:rPr lang="en-US" sz="3000" b="1" dirty="0">
                <a:latin typeface="Times New Roman"/>
              </a:rPr>
              <a:t>Backend &amp; Simulator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70839" y="2095836"/>
            <a:ext cx="4166698" cy="4550000"/>
          </a:xfrm>
        </p:spPr>
        <p:txBody>
          <a:bodyPr anchor="t"/>
          <a:lstStyle/>
          <a:p>
            <a:pPr lvl="1"/>
            <a:r>
              <a:rPr lang="en-US" sz="1320" dirty="0">
                <a:latin typeface="Times New Roman"/>
              </a:rPr>
              <a:t>FastAPI implements POST /data and GET /data.</a:t>
            </a:r>
          </a:p>
          <a:p>
            <a:pPr lvl="1"/>
            <a:r>
              <a:rPr lang="en-US" sz="1320" dirty="0">
                <a:latin typeface="Times New Roman"/>
              </a:rPr>
              <a:t>Backend outputs prediction, event, confidence, match and source.</a:t>
            </a:r>
          </a:p>
          <a:p>
            <a:pPr lvl="1"/>
            <a:r>
              <a:rPr lang="en-US" sz="1320" dirty="0">
                <a:latin typeface="Times New Roman"/>
              </a:rPr>
              <a:t>meter_simulator.py generates readings for multiple meters.</a:t>
            </a:r>
          </a:p>
          <a:p>
            <a:pPr lvl="1"/>
            <a:r>
              <a:rPr lang="en-US" sz="1320" dirty="0">
                <a:latin typeface="Times New Roman"/>
              </a:rPr>
              <a:t>Simulator injects low-power theft-like spikes.</a:t>
            </a:r>
          </a:p>
          <a:p>
            <a:pPr lvl="1"/>
            <a:r>
              <a:rPr lang="en-US" sz="1320" dirty="0">
                <a:latin typeface="Times New Roman"/>
              </a:rPr>
              <a:t>Simulator injects high-power fault-like spikes.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020D82-E6E8-6E30-5677-CD77AA05A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  <p:pic>
        <p:nvPicPr>
          <p:cNvPr id="6" name="Real Dashboard Snapshot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589" y="1979999"/>
            <a:ext cx="5203227" cy="2714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000" y="600000"/>
            <a:ext cx="7800000" cy="720000"/>
          </a:xfrm>
        </p:spPr>
        <p:txBody>
          <a:bodyPr anchor="t"/>
          <a:lstStyle/>
          <a:p>
            <a:r>
              <a:rPr lang="en-US" sz="3000" b="1" dirty="0">
                <a:latin typeface="Times New Roman"/>
              </a:rP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03037" y="1980000"/>
            <a:ext cx="3928440" cy="4550000"/>
          </a:xfrm>
        </p:spPr>
        <p:txBody>
          <a:bodyPr anchor="t"/>
          <a:lstStyle/>
          <a:p>
            <a:pPr lvl="1"/>
            <a:r>
              <a:rPr lang="en-US" sz="1320" dirty="0">
                <a:latin typeface="Times New Roman"/>
              </a:rPr>
              <a:t>Implemented using Flask, HTML, CSS, JavaScript and Chart.js.</a:t>
            </a:r>
          </a:p>
          <a:p>
            <a:pPr lvl="1"/>
            <a:r>
              <a:rPr lang="en-US" sz="1320" dirty="0">
                <a:latin typeface="Times New Roman"/>
              </a:rPr>
              <a:t>Shows live power timeline.</a:t>
            </a:r>
          </a:p>
          <a:p>
            <a:pPr lvl="1"/>
            <a:r>
              <a:rPr lang="en-US" sz="1320" dirty="0">
                <a:latin typeface="Times New Roman"/>
              </a:rPr>
              <a:t>Displays recent event cards.</a:t>
            </a:r>
          </a:p>
          <a:p>
            <a:pPr lvl="1"/>
            <a:r>
              <a:rPr lang="en-US" sz="1320" dirty="0">
                <a:latin typeface="Times New Roman"/>
              </a:rPr>
              <a:t>Shows anomaly counts, model outputs and confidence.</a:t>
            </a:r>
          </a:p>
          <a:p>
            <a:pPr lvl="1"/>
            <a:r>
              <a:rPr lang="en-US" sz="1320" dirty="0">
                <a:latin typeface="Times New Roman"/>
              </a:rPr>
              <a:t>Uses real-time data from backend API.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07D352-86FA-6DFD-5870-3CD399FB6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  <p:pic>
        <p:nvPicPr>
          <p:cNvPr id="7" name="Real Dashboard Snapshot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073" y="1979999"/>
            <a:ext cx="4739426" cy="39495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000" y="600000"/>
            <a:ext cx="7800000" cy="720000"/>
          </a:xfrm>
        </p:spPr>
        <p:txBody>
          <a:bodyPr anchor="t">
            <a:normAutofit/>
          </a:bodyPr>
          <a:lstStyle/>
          <a:p>
            <a:r>
              <a:rPr lang="en-US" sz="3000" b="1" dirty="0">
                <a:latin typeface="Times New Roman"/>
              </a:rPr>
              <a:t>Testing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38643" y="1983020"/>
            <a:ext cx="4688294" cy="4550000"/>
          </a:xfrm>
        </p:spPr>
        <p:txBody>
          <a:bodyPr anchor="t"/>
          <a:lstStyle/>
          <a:p>
            <a:pPr lvl="1"/>
            <a:r>
              <a:rPr lang="en-US" sz="1320" dirty="0">
                <a:latin typeface="Times New Roman"/>
              </a:rPr>
              <a:t>Tests are written using pytest.</a:t>
            </a:r>
          </a:p>
          <a:p>
            <a:pPr lvl="1"/>
            <a:r>
              <a:rPr lang="en-US" sz="1320" dirty="0">
                <a:latin typeface="Times New Roman"/>
              </a:rPr>
              <a:t>Backend helper logic and event classification are tested.</a:t>
            </a:r>
          </a:p>
          <a:p>
            <a:pPr lvl="1"/>
            <a:r>
              <a:rPr lang="en-US" sz="1320" dirty="0">
                <a:latin typeface="Times New Roman"/>
              </a:rPr>
              <a:t>LSTM warmup and combined model decisions are tested.</a:t>
            </a:r>
          </a:p>
          <a:p>
            <a:pPr lvl="1"/>
            <a:r>
              <a:rPr lang="en-US" sz="1320" dirty="0">
                <a:latin typeface="Times New Roman"/>
              </a:rPr>
              <a:t>Theft-like and fault-like events are detected from spikes.</a:t>
            </a:r>
          </a:p>
          <a:p>
            <a:pPr lvl="1"/>
            <a:r>
              <a:rPr lang="en-US" sz="1320" dirty="0">
                <a:latin typeface="Times New Roman"/>
              </a:rPr>
              <a:t>Dashboard updates live with model decisions.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F901D2-7676-849F-F55A-C8172ED27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  <p:pic>
        <p:nvPicPr>
          <p:cNvPr id="6" name="Real Dashboard Snapshot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652" y="1983020"/>
            <a:ext cx="4587642" cy="23932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000" y="600000"/>
            <a:ext cx="7800000" cy="720000"/>
          </a:xfrm>
        </p:spPr>
        <p:txBody>
          <a:bodyPr anchor="t">
            <a:normAutofit/>
          </a:bodyPr>
          <a:lstStyle/>
          <a:p>
            <a:r>
              <a:rPr lang="en-US" sz="3000" b="1" dirty="0">
                <a:latin typeface="Times New Roman"/>
              </a:rP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77280" y="1954169"/>
            <a:ext cx="4237533" cy="4550000"/>
          </a:xfrm>
        </p:spPr>
        <p:txBody>
          <a:bodyPr anchor="t"/>
          <a:lstStyle/>
          <a:p>
            <a:pPr lvl="1"/>
            <a:r>
              <a:rPr lang="en-US" sz="1320" dirty="0">
                <a:latin typeface="Times New Roman"/>
              </a:rPr>
              <a:t>Project demonstrates an AI-based smart meter monitoring workflow.</a:t>
            </a:r>
          </a:p>
          <a:p>
            <a:pPr lvl="1"/>
            <a:r>
              <a:rPr lang="en-US" sz="1320" dirty="0">
                <a:latin typeface="Times New Roman"/>
              </a:rPr>
              <a:t>Combines preprocessing, anomaly detection and live visualization.</a:t>
            </a:r>
          </a:p>
          <a:p>
            <a:pPr lvl="1"/>
            <a:r>
              <a:rPr lang="en-US" sz="1320" dirty="0">
                <a:latin typeface="Times New Roman"/>
              </a:rPr>
              <a:t>Advantages: real-time monitoring, ML models and multi-meter support.</a:t>
            </a:r>
          </a:p>
          <a:p>
            <a:pPr lvl="1"/>
            <a:r>
              <a:rPr lang="en-US" sz="1320" dirty="0">
                <a:latin typeface="Times New Roman"/>
              </a:rPr>
              <a:t>Limitations: simulated readings, no database and no SMS/email alerts.</a:t>
            </a:r>
          </a:p>
          <a:p>
            <a:pPr lvl="1"/>
            <a:r>
              <a:rPr lang="en-US" sz="1320" dirty="0">
                <a:latin typeface="Times New Roman"/>
              </a:rPr>
              <a:t>Future: real meter integration, cloud deployment and retraining.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63DD13-F247-627A-1751-14C993176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  <p:pic>
        <p:nvPicPr>
          <p:cNvPr id="6" name="Real Dashboard Snapshot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921" y="2897746"/>
            <a:ext cx="4626079" cy="8211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C3C44E-E4A7-C1B0-DD3A-53CDE4AD4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00" y="600000"/>
            <a:ext cx="7800000" cy="720000"/>
          </a:xfrm>
        </p:spPr>
        <p:txBody>
          <a:bodyPr anchor="ctr"/>
          <a:lstStyle/>
          <a:p>
            <a:pPr algn="ctr"/>
            <a:r>
              <a:rPr lang="en-US" sz="3000" b="1" dirty="0">
                <a:latin typeface="Times New Roman"/>
              </a:rPr>
              <a:t>Thank You</a:t>
            </a:r>
          </a:p>
        </p:txBody>
      </p:sp>
      <p:pic>
        <p:nvPicPr>
          <p:cNvPr id="6" name="Real Dashboard Snapshot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51" y="2384661"/>
            <a:ext cx="8873097" cy="170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08796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139</TotalTime>
  <Words>472</Words>
  <Application>Microsoft Office PowerPoint</Application>
  <PresentationFormat>On-screen Show (4:3)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Gill Sans MT</vt:lpstr>
      <vt:lpstr>Times New Roman</vt:lpstr>
      <vt:lpstr>Gallery</vt:lpstr>
      <vt:lpstr>Smart Meter Anomaly Detection Dashboard</vt:lpstr>
      <vt:lpstr>Introduction</vt:lpstr>
      <vt:lpstr>Problem Statement &amp; Objectives</vt:lpstr>
      <vt:lpstr>Proposed System</vt:lpstr>
      <vt:lpstr>System Architecture</vt:lpstr>
      <vt:lpstr>Dataset &amp; Preprocessing</vt:lpstr>
      <vt:lpstr>Algorithms Used</vt:lpstr>
      <vt:lpstr>Backend &amp; Simulator</vt:lpstr>
      <vt:lpstr>Dashboard</vt:lpstr>
      <vt:lpstr>Testing &amp; Results</vt:lpstr>
      <vt:lpstr>Conclusion &amp; Future Scope</vt:lpstr>
      <vt:lpstr>Thank You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 MCA / BcA / MSc (DS) Project Report Presentation</dc:title>
  <dc:creator>HP</dc:creator>
  <dc:description>generated using python-pptx</dc:description>
  <cp:lastModifiedBy>Devendra Shakya</cp:lastModifiedBy>
  <cp:revision>12</cp:revision>
  <dcterms:created xsi:type="dcterms:W3CDTF">2013-01-27T09:14:16Z</dcterms:created>
  <dcterms:modified xsi:type="dcterms:W3CDTF">2026-05-16T12:15:07Z</dcterms:modified>
</cp:coreProperties>
</file>